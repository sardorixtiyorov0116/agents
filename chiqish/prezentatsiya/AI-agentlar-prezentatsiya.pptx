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371600"/>
            <a:ext cx="3154680" cy="384048"/>
          </a:xfrm>
          <a:prstGeom prst="roundRect">
            <a:avLst>
              <a:gd name="adj" fmla="val 50000"/>
            </a:avLst>
          </a:prstGeom>
          <a:solidFill>
            <a:srgbClr val="DAEAF1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33272" y="14538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00" b="0">
                <a:solidFill>
                  <a:srgbClr val="05637D"/>
                </a:solidFill>
                <a:latin typeface="Consolas"/>
              </a:rPr>
              <a:t>● Tizim hozir ishlab turibdi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011680"/>
            <a:ext cx="1005840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5800" b="1">
                <a:solidFill>
                  <a:srgbClr val="0D1620"/>
                </a:solidFill>
                <a:latin typeface="Segoe UI"/>
              </a:rPr>
              <a:t>Sun'iy intellekt</a:t>
            </a:r>
          </a:p>
          <a:p>
            <a:pPr>
              <a:lnSpc>
                <a:spcPct val="116000"/>
              </a:lnSpc>
            </a:pPr>
            <a:r>
              <a:rPr sz="5800" b="1">
                <a:solidFill>
                  <a:srgbClr val="0D1620"/>
                </a:solidFill>
                <a:latin typeface="Segoe UI"/>
              </a:rPr>
              <a:t>agentlari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443484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50" b="0">
                <a:solidFill>
                  <a:srgbClr val="3B4F63"/>
                </a:solidFill>
                <a:latin typeface="Segoe UI"/>
              </a:rPr>
              <a:t>Bu nima, oddiy chatbotdan nimasi bilan farq qiladi va biz Jihozvent uchun qanday tizim qurdik — 15 ta agent, har biri o'z ishi bilan.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01 / 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BOSHLAYMIZ ENG ODDIYSIDAN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Siz AI ni allaqachon ko'rgansiz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574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900" b="0">
                <a:solidFill>
                  <a:srgbClr val="0D1620"/>
                </a:solidFill>
                <a:latin typeface="Segoe UI"/>
              </a:rPr>
              <a:t>Savol yozasiz — javob oladi. Xuddi juda ko'p o'qigan odam bilan gaplashgandek.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78892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Bu foydali. Lekin bir chegarasi bor va aynan shu chegara bugungi suhbatning mavzusi.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886200"/>
            <a:ext cx="38100" cy="109728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2" y="3931920"/>
            <a:ext cx="6400800" cy="1051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2800" b="1">
                <a:solidFill>
                  <a:srgbClr val="0D1620"/>
                </a:solidFill>
                <a:latin typeface="Segoe UI"/>
              </a:rPr>
              <a:t>Chatbot gapiradi.</a:t>
            </a:r>
          </a:p>
          <a:p>
            <a:pPr>
              <a:lnSpc>
                <a:spcPct val="116000"/>
              </a:lnSpc>
            </a:pPr>
            <a:r>
              <a:rPr sz="2800" b="1">
                <a:solidFill>
                  <a:srgbClr val="0D1620"/>
                </a:solidFill>
                <a:latin typeface="Segoe UI"/>
              </a:rPr>
              <a:t>Agent ishlaydi.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02 / 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ROLIK 1 — FARQNI KO'RING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300" b="1">
                <a:solidFill>
                  <a:srgbClr val="0D1620"/>
                </a:solidFill>
                <a:latin typeface="Segoe UI"/>
              </a:rPr>
              <a:t>Bir xil savol, ikki xil natija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78308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1984248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64798F"/>
                </a:solidFill>
                <a:latin typeface="Segoe UI"/>
              </a:rPr>
              <a:t>ODDIY CHATBOT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783080"/>
            <a:ext cx="5257800" cy="443484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1984248"/>
            <a:ext cx="4745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64798F"/>
                </a:solidFill>
                <a:latin typeface="Segoe UI"/>
              </a:rPr>
              <a:t>AI 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33272" y="2377440"/>
            <a:ext cx="4745736" cy="530352"/>
          </a:xfrm>
          <a:prstGeom prst="roundRect">
            <a:avLst>
              <a:gd name="adj" fmla="val 14000"/>
            </a:avLst>
          </a:prstGeom>
          <a:solidFill>
            <a:srgbClr val="B0C0D2"/>
          </a:solidFill>
          <a:ln w="12700">
            <a:solidFill>
              <a:srgbClr val="B0C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16152" y="2487168"/>
            <a:ext cx="43799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0">
                <a:solidFill>
                  <a:srgbClr val="0D1620"/>
                </a:solidFill>
                <a:latin typeface="Segoe UI"/>
              </a:rPr>
              <a:t>«800 m², balandligi 6 m — omborga ventilyatsiya kerak»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11112" y="2377440"/>
            <a:ext cx="4745736" cy="530352"/>
          </a:xfrm>
          <a:prstGeom prst="roundRect">
            <a:avLst>
              <a:gd name="adj" fmla="val 14000"/>
            </a:avLst>
          </a:prstGeom>
          <a:solidFill>
            <a:srgbClr val="B0C0D2"/>
          </a:solidFill>
          <a:ln w="12700">
            <a:solidFill>
              <a:srgbClr val="B0C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93992" y="2487168"/>
            <a:ext cx="437997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0">
                <a:solidFill>
                  <a:srgbClr val="0D1620"/>
                </a:solidFill>
                <a:latin typeface="Segoe UI"/>
              </a:rPr>
              <a:t>«800 m², balandligi 6 m — omborga ventilyatsiya kerak»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33272" y="3044952"/>
            <a:ext cx="4745736" cy="868680"/>
          </a:xfrm>
          <a:prstGeom prst="roundRect">
            <a:avLst>
              <a:gd name="adj" fmla="val 14000"/>
            </a:avLst>
          </a:prstGeom>
          <a:solidFill>
            <a:srgbClr val="DAEAF1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3154680"/>
            <a:ext cx="4379976" cy="6492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0">
                <a:solidFill>
                  <a:srgbClr val="05637D"/>
                </a:solidFill>
                <a:latin typeface="Segoe UI"/>
              </a:rPr>
              <a:t>«Ombor uchun havo almashinuvi odatda soatiga 2–3 marta bo'ladi. Ventilyator quvvatini muhandis hisoblab beradi.»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33272" y="4114800"/>
            <a:ext cx="4745736" cy="384048"/>
          </a:xfrm>
          <a:prstGeom prst="roundRect">
            <a:avLst>
              <a:gd name="adj" fmla="val 14000"/>
            </a:avLst>
          </a:prstGeom>
          <a:solidFill>
            <a:srgbClr val="F7E2E0"/>
          </a:solidFill>
          <a:ln w="12700">
            <a:solidFill>
              <a:srgbClr val="9E2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4224528"/>
            <a:ext cx="4379976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0">
                <a:solidFill>
                  <a:srgbClr val="9E2F2C"/>
                </a:solidFill>
                <a:latin typeface="Consolas"/>
              </a:rPr>
              <a:t>shu yerda tugadi — keyingi ish sizda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11112" y="3044952"/>
            <a:ext cx="4745736" cy="402336"/>
          </a:xfrm>
          <a:prstGeom prst="roundRect">
            <a:avLst>
              <a:gd name="adj" fmla="val 1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93992" y="3154680"/>
            <a:ext cx="4379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0">
                <a:solidFill>
                  <a:srgbClr val="0D1620"/>
                </a:solidFill>
                <a:latin typeface="Consolas"/>
              </a:rPr>
              <a:t>▸  havo sarfini hisoblaydi — 14 400 m³/soat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611112" y="3520440"/>
            <a:ext cx="4745736" cy="402336"/>
          </a:xfrm>
          <a:prstGeom prst="roundRect">
            <a:avLst>
              <a:gd name="adj" fmla="val 1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93992" y="3630168"/>
            <a:ext cx="4379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0">
                <a:solidFill>
                  <a:srgbClr val="0D1620"/>
                </a:solidFill>
                <a:latin typeface="Consolas"/>
              </a:rPr>
              <a:t>▸  katalogdan 3 ta mos model topadi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11112" y="3995928"/>
            <a:ext cx="4745736" cy="402336"/>
          </a:xfrm>
          <a:prstGeom prst="roundRect">
            <a:avLst>
              <a:gd name="adj" fmla="val 1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93992" y="4105656"/>
            <a:ext cx="4379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0">
                <a:solidFill>
                  <a:srgbClr val="0D1620"/>
                </a:solidFill>
                <a:latin typeface="Consolas"/>
              </a:rPr>
              <a:t>▸  bosim yo'qotishini tekshiradi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11112" y="4471416"/>
            <a:ext cx="4745736" cy="402336"/>
          </a:xfrm>
          <a:prstGeom prst="roundRect">
            <a:avLst>
              <a:gd name="adj" fmla="val 1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93992" y="4581144"/>
            <a:ext cx="4379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0">
                <a:solidFill>
                  <a:srgbClr val="0D1620"/>
                </a:solidFill>
                <a:latin typeface="Consolas"/>
              </a:rPr>
              <a:t>▸  tijorat taklifini tayyorlaydi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611112" y="4946904"/>
            <a:ext cx="4745736" cy="402336"/>
          </a:xfrm>
          <a:prstGeom prst="roundRect">
            <a:avLst>
              <a:gd name="adj" fmla="val 1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93992" y="5056632"/>
            <a:ext cx="4379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0">
                <a:solidFill>
                  <a:srgbClr val="0D1620"/>
                </a:solidFill>
                <a:latin typeface="Consolas"/>
              </a:rPr>
              <a:t>✓  menejerga tasdiqqa yuboradi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11112" y="5468112"/>
            <a:ext cx="4745736" cy="402336"/>
          </a:xfrm>
          <a:prstGeom prst="roundRect">
            <a:avLst>
              <a:gd name="adj" fmla="val 14000"/>
            </a:avLst>
          </a:prstGeom>
          <a:solidFill>
            <a:srgbClr val="DCEFE6"/>
          </a:solidFill>
          <a:ln w="12700">
            <a:solidFill>
              <a:srgbClr val="0B6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93992" y="5577840"/>
            <a:ext cx="4379976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150" b="1">
                <a:solidFill>
                  <a:srgbClr val="0B6444"/>
                </a:solidFill>
                <a:latin typeface="Consolas"/>
              </a:rPr>
              <a:t>ish bajarildi — sizga faqat tekshirish qoldi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03 /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ENG ODDIY TUSHUNTIRISH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Ensiklopediya va xodim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476402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CHATBOT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Ensiklopediya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Javobni biladi va aytadi. Lekin javonidan turib hech qayerga bormaydi, hech kimga qo'ng'iroq qilmaydi, hujjat yozmaydi. Bilim bor — harakat yo'q.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22402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67128"/>
            <a:ext cx="4764024" cy="1746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94550A"/>
                </a:solidFill>
                <a:latin typeface="Consolas"/>
              </a:rPr>
              <a:t>AGENT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Xodim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Vazifani oladi, kerakli joydan ma'lumot topadi, hisoblaydi, hujjat tayyorlaydi va natijani olib keladi. Bilim plus harakat.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5720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900" b="0">
                <a:solidFill>
                  <a:srgbClr val="0D1620"/>
                </a:solidFill>
                <a:latin typeface="Segoe UI"/>
              </a:rPr>
              <a:t>Farqi bitta so'zda: agentda qo'l bor. U nafaqat biladi — qila oladi.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04 /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AGENT NIMALARDAN TUZILADI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Uchta narsa — boshqa hech nima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38144" cy="23774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2944368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01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Bilim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Kompaniyaning o'z hujjatlari: katalog, texnik ma'lumot, narx, qonun, ish tartibi. Internetdan emas — sizdan.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1920240"/>
            <a:ext cx="3438144" cy="23774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8304" y="2167128"/>
            <a:ext cx="2944368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02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Asboblar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Bazaga ulanish, hisob-kitob formulalari, hujjat yasash, xabar yuborish. Bularsiz agent shunchaki suhbatdosh bo'lib qoladi.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920240"/>
            <a:ext cx="3438144" cy="23774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67128"/>
            <a:ext cx="2944368" cy="18836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94550A"/>
                </a:solidFill>
                <a:latin typeface="Consolas"/>
              </a:rPr>
              <a:t>03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Chegara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Nima qila oladi va nimaga qo'l urmaydi. Eng muhimi shu — chegarasiz agent xavfli.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Bizning tizimda har agentning chegarasi alohida faylda yozilgan. O'zi o'zgartira olmaydi.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05 /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4550A"/>
                </a:solidFill>
                <a:latin typeface="Segoe UI"/>
              </a:rPr>
              <a:t>ENDI — BIZNING ISHIMIZ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Jihozventdagi kundalik holat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Katalog juda katta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1 482 ta model. Menejer mijozga to'g'ri keladigan modelni qidiradi — bu vaqt oladi va xato bo'lishi mumkin.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Har taklif qo'lda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Hisob, model tanlash, narx, hujjat, raqam — hammasi qo'lda. Bitta tijorat taklifi soatlab vaqt 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Tenderlar o'tib ketadi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E'lonlarni kimdir har kuni ochib ko'rishi kerak. Bir kun unutilsa — imkoniyat yo'qoladi.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Bilim boshlarda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Tajribali xodim biladi. U bandmi yoki ishdan ketdimi — bilim ham u bilan ketadi.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06 / 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4550A"/>
                </a:solidFill>
                <a:latin typeface="Segoe UI"/>
              </a:rPr>
              <a:t>YECHIM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200" b="1">
                <a:solidFill>
                  <a:srgbClr val="0D1620"/>
                </a:solidFill>
                <a:latin typeface="Segoe UI"/>
              </a:rPr>
              <a:t>Bitta dastur emas — butun boshli ofis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0D1620"/>
                </a:solidFill>
                <a:latin typeface="Segoe UI"/>
              </a:rPr>
              <a:t>Bitta ulkan «hamma ishni qiladigan» dastur o'rniga biz 15 ta alohida agent qurdik. Har biri bitta ishni biladi va o'sha ishni yaxshi bajaradi — xuddi haqiqiy ofisdagidek.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87168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596896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Temur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Tijorat menejeri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Tijorat taklifini tuzadi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2487168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90672" y="2596896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Rustam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Loyihachi muhandis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Havo sarfi va bosimni hisoblaydi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9784" y="2487168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66944" y="2596896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Sardor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Mahsulot mutaxassisi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Katalogdan mos model tanlaydi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06056" y="2487168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43216" y="2596896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Jasur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Tender kuzatuvchisi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Xarid e'lonlarini kuzatadi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482328" y="2487168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19488" y="2596896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Aziza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Savdo koordinatori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Yuborilgan takliflarni kuzatadi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657600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767328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Zara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Narx analitigi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Bozor narxini kuzatadi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53512" y="3657600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90672" y="3767328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Karim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Raqobat tahlilchisi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Raqobatchilarni tahlil qiladi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129784" y="3657600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66944" y="3767328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Bekzod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Savdo strategi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Savdo yondashuvini taklif qiladi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06056" y="3657600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6" y="3767328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Anvar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Ventilyatsiya maslahatchisi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Montaj bo'yicha yo'l ko'rsatadi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82328" y="3657600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9488" y="3767328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Nodira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Katalog administratori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Katalog ma'lumotini tartibga soladi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7240" y="4828032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937760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Doston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Ma'lumot muhandisi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Bazadan hisobot oladi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953512" y="4828032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090672" y="4937760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Malika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Marketolog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Kampaniya matnlarini yozadi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129784" y="4828032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66944" y="4937760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Nilufar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Ijtimoiy tarmoq tahlilchisi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Instagram natijalarini tahlil qiladi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06056" y="4828032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43216" y="4937760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Hilola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HR menejeri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Vakansiya va hujjat qoralamasi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82328" y="4828032"/>
            <a:ext cx="2029968" cy="105156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0563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19488" y="4937760"/>
            <a:ext cx="1755648" cy="832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1">
                <a:solidFill>
                  <a:srgbClr val="0D1620"/>
                </a:solidFill>
                <a:latin typeface="Segoe UI"/>
              </a:rPr>
              <a:t>Laziz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50" b="0">
                <a:solidFill>
                  <a:srgbClr val="64798F"/>
                </a:solidFill>
                <a:latin typeface="Segoe UI"/>
              </a:rPr>
              <a:t>Yurist</a:t>
            </a:r>
          </a:p>
          <a:p>
            <a:pPr>
              <a:lnSpc>
                <a:spcPct val="116000"/>
              </a:lnSpc>
              <a:spcBef>
                <a:spcPts val="200"/>
              </a:spcBef>
            </a:pPr>
            <a:r>
              <a:rPr sz="800" b="0">
                <a:solidFill>
                  <a:srgbClr val="3B4F63"/>
                </a:solidFill>
                <a:latin typeface="Segoe UI"/>
              </a:rPr>
              <a:t>Shartnomadagi xavfni ko'rsatadi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5989320"/>
            <a:ext cx="10424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00" b="0">
                <a:solidFill>
                  <a:srgbClr val="3B4F63"/>
                </a:solidFill>
                <a:latin typeface="Segoe UI"/>
              </a:rPr>
              <a:t>Menejer kimga murojaat qilishni bilishi shart emas — tizim o'zi tanlaydi.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07 / 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TIZIM QANDAY TANLAYDI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Menejer buyruq emas, oddiy gap yozadi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700" b="0">
                <a:solidFill>
                  <a:srgbClr val="0D1620"/>
                </a:solidFill>
                <a:latin typeface="Segoe UI"/>
              </a:rPr>
              <a:t>Hech qanday menyu, kod yoki agent nomi kerak emas. Tizim gapni o'qib, kimni chaqirishni o'zi hal qiladi.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3438144" cy="17830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880360"/>
            <a:ext cx="298094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YOZILGAN GAP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00" b="0">
                <a:solidFill>
                  <a:srgbClr val="0D1620"/>
                </a:solidFill>
                <a:latin typeface="Consolas"/>
              </a:rPr>
              <a:t>«Ombor uchun taklif tayyorlang»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Tanlandi: Rustam → Sardor → Temur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2697480"/>
            <a:ext cx="3438144" cy="17830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2880360"/>
            <a:ext cx="298094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YOZILGAN GAP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00" b="0">
                <a:solidFill>
                  <a:srgbClr val="0D1620"/>
                </a:solidFill>
                <a:latin typeface="Consolas"/>
              </a:rPr>
              <a:t>«Shu shartnomani ko'rib bering»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Tanlandi: Laziz (yurist)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2697480"/>
            <a:ext cx="3438144" cy="17830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94192" y="2880360"/>
            <a:ext cx="2980944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YOZILGAN GAP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00" b="0">
                <a:solidFill>
                  <a:srgbClr val="0D1620"/>
                </a:solidFill>
                <a:latin typeface="Consolas"/>
              </a:rPr>
              <a:t>«1-tovarga 5 mln qo'ying»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Tanlandi: Temur — tayyor KP tahrirlanadi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006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Bir gapda bir necha ish bo'lsa, agentlar zanjir bo'lib ishlaydi va natijani bir-biriga uzatadi.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08 / 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ROLIK 3 — BITTA SO'ROV QANDAY BAJARILADI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300" b="1">
                <a:solidFill>
                  <a:srgbClr val="0D1620"/>
                </a:solidFill>
                <a:latin typeface="Segoe UI"/>
              </a:rPr>
              <a:t>Menejer bitta jumla yozadi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10512"/>
            <a:ext cx="10637215" cy="530352"/>
          </a:xfrm>
          <a:prstGeom prst="roundRect">
            <a:avLst>
              <a:gd name="adj" fmla="val 14000"/>
            </a:avLst>
          </a:prstGeom>
          <a:solidFill>
            <a:srgbClr val="B0C0D2"/>
          </a:solidFill>
          <a:ln w="12700">
            <a:solidFill>
              <a:srgbClr val="B0C0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20240"/>
            <a:ext cx="10271455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50" b="0">
                <a:solidFill>
                  <a:srgbClr val="0D1620"/>
                </a:solidFill>
                <a:latin typeface="Segoe UI"/>
              </a:rPr>
              <a:t>«Tolibjon MChJ uchun 800 m², balandligi 6 m ombor — ventilyatsiya taklifini tayyorlang»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743200"/>
            <a:ext cx="2029968" cy="155448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0976" y="2889504"/>
            <a:ext cx="16824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50" b="1">
                <a:solidFill>
                  <a:srgbClr val="0D1620"/>
                </a:solidFill>
                <a:latin typeface="Segoe UI"/>
              </a:rPr>
              <a:t>Rustam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64798F"/>
                </a:solidFill>
                <a:latin typeface="Segoe UI"/>
              </a:rPr>
              <a:t>Loyihachi muhandis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100" b="1">
                <a:solidFill>
                  <a:srgbClr val="05637D"/>
                </a:solidFill>
                <a:latin typeface="Consolas"/>
              </a:rPr>
              <a:t>14 400 m³/soat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53512" y="2743200"/>
            <a:ext cx="2029968" cy="155448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27248" y="2889504"/>
            <a:ext cx="16824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50" b="1">
                <a:solidFill>
                  <a:srgbClr val="0D1620"/>
                </a:solidFill>
                <a:latin typeface="Segoe UI"/>
              </a:rPr>
              <a:t>Sardor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64798F"/>
                </a:solidFill>
                <a:latin typeface="Segoe UI"/>
              </a:rPr>
              <a:t>Mahsulot mutaxassisi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100" b="1">
                <a:solidFill>
                  <a:srgbClr val="05637D"/>
                </a:solidFill>
                <a:latin typeface="Consolas"/>
              </a:rPr>
              <a:t>ВЦ 14-46 №8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129784" y="2743200"/>
            <a:ext cx="2029968" cy="155448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303520" y="2889504"/>
            <a:ext cx="16824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50" b="1">
                <a:solidFill>
                  <a:srgbClr val="0D1620"/>
                </a:solidFill>
                <a:latin typeface="Segoe UI"/>
              </a:rPr>
              <a:t>Temur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64798F"/>
                </a:solidFill>
                <a:latin typeface="Segoe UI"/>
              </a:rPr>
              <a:t>Tijorat menejeri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100" b="1">
                <a:solidFill>
                  <a:srgbClr val="05637D"/>
                </a:solidFill>
                <a:latin typeface="Consolas"/>
              </a:rPr>
              <a:t>KP-12951/6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06056" y="2743200"/>
            <a:ext cx="2029968" cy="1554480"/>
          </a:xfrm>
          <a:prstGeom prst="roundRect">
            <a:avLst>
              <a:gd name="adj" fmla="val 4000"/>
            </a:avLst>
          </a:prstGeom>
          <a:solidFill>
            <a:srgbClr val="F7E9C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79792" y="2889504"/>
            <a:ext cx="16824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50" b="1">
                <a:solidFill>
                  <a:srgbClr val="94550A"/>
                </a:solidFill>
                <a:latin typeface="Segoe UI"/>
              </a:rPr>
              <a:t>Inson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64798F"/>
                </a:solidFill>
                <a:latin typeface="Segoe UI"/>
              </a:rPr>
              <a:t>Menejer tasdig'i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100" b="1">
                <a:solidFill>
                  <a:srgbClr val="94550A"/>
                </a:solidFill>
                <a:latin typeface="Consolas"/>
              </a:rPr>
              <a:t>✓ tasdiqlandi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82328" y="2743200"/>
            <a:ext cx="2029968" cy="1554480"/>
          </a:xfrm>
          <a:prstGeom prst="roundRect">
            <a:avLst>
              <a:gd name="adj" fmla="val 4000"/>
            </a:avLst>
          </a:prstGeom>
          <a:solidFill>
            <a:srgbClr val="EDF2F8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56064" y="2889504"/>
            <a:ext cx="1682496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350" b="1">
                <a:solidFill>
                  <a:srgbClr val="0D1620"/>
                </a:solidFill>
                <a:latin typeface="Segoe UI"/>
              </a:rPr>
              <a:t>Aziza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900" b="0">
                <a:solidFill>
                  <a:srgbClr val="64798F"/>
                </a:solidFill>
                <a:latin typeface="Segoe UI"/>
              </a:rPr>
              <a:t>Savdo koordinatori</a:t>
            </a:r>
          </a:p>
          <a:p>
            <a:pPr>
              <a:lnSpc>
                <a:spcPct val="116000"/>
              </a:lnSpc>
              <a:spcBef>
                <a:spcPts val="400"/>
              </a:spcBef>
            </a:pPr>
            <a:r>
              <a:rPr sz="1100" b="1">
                <a:solidFill>
                  <a:srgbClr val="05637D"/>
                </a:solidFill>
                <a:latin typeface="Consolas"/>
              </a:rPr>
              <a:t>kuzatuvga olindi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572000"/>
            <a:ext cx="10637215" cy="438912"/>
          </a:xfrm>
          <a:prstGeom prst="roundRect">
            <a:avLst>
              <a:gd name="adj" fmla="val 14000"/>
            </a:avLst>
          </a:prstGeom>
          <a:solidFill>
            <a:srgbClr val="DCEFE6"/>
          </a:solidFill>
          <a:ln w="12700">
            <a:solidFill>
              <a:srgbClr val="0B6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4681728"/>
            <a:ext cx="102714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00" b="1">
                <a:solidFill>
                  <a:srgbClr val="0B6444"/>
                </a:solidFill>
                <a:latin typeface="Consolas"/>
              </a:rPr>
              <a:t>PDF va Word tayyor — mijozga yuborish mumkin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2578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500" b="0">
                <a:solidFill>
                  <a:srgbClr val="3B4F63"/>
                </a:solidFill>
                <a:latin typeface="Segoe UI"/>
              </a:rPr>
              <a:t>Menejer kimni chaqirishni bilishi shart emas — tizim o'zi kerakli agentlarni tanlaydi va ketma-ket ishlatadi. O'rtadagi sariq qadam esa hech qachon o'tkazib yuborilmaydi.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09 / 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BU FAQAT KP 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Bir naqsh — beshta bo'lim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Yuqoridagi zanjir — tijorat taklifi misolida. Lekin naqsh bir xil: so'rov → kerakli agentlar → natija → inson tasdig'i.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68880"/>
            <a:ext cx="3438144" cy="15544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15768"/>
            <a:ext cx="294436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SAVDO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64 ta ish bajarilgan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Taklif tuzish, model tanlash, hisob, yuborilgan KP kuzatuvi.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2468880"/>
            <a:ext cx="3438144" cy="15544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2715768"/>
            <a:ext cx="294436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BOZOR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15 ta ish bajarilgan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Raqobatchilar tahlili va bozor narxi kuzatuvi.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2468880"/>
            <a:ext cx="3438144" cy="15544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715768"/>
            <a:ext cx="294436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MA'LUMOT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21 ta ish bajarilgan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Bazadan hisobot, katalogni tartibga solish.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160520"/>
            <a:ext cx="3438144" cy="15544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4407408"/>
            <a:ext cx="294436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HUQUQ VA HR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5 ta ish bajarilgan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Shartnomadagi xavf, vakansiya va hujjat qoralamasi.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71416" y="4160520"/>
            <a:ext cx="3438144" cy="15544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8304" y="4407408"/>
            <a:ext cx="294436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XARID VA MARKETING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7 ta ish bajarilgan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Tender kuzatuvi, savdo yondashuvi, kampaniya matnlari.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65592" y="4160520"/>
            <a:ext cx="3438144" cy="15544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4407408"/>
            <a:ext cx="2944368" cy="10607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94550A"/>
                </a:solidFill>
                <a:latin typeface="Consolas"/>
              </a:rPr>
              <a:t>HALI ISHLATILMAGAN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Instagram va montaj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Kod tayyor va sinovdan o'tgan, lekin haqiqiy so'rovda hali ochilmagan — Instagram hisobiga ulanish ruxsati kerak.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870448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400" b="1">
                <a:solidFill>
                  <a:srgbClr val="0D1620"/>
                </a:solidFill>
                <a:latin typeface="Segoe UI"/>
              </a:rPr>
              <a:t>15 tadan 13 tasi haqiqiy so'rovlarda ishlagan. Qolgan ikkitasini «ishlaydi» deb aytmayman.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10 / 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AGENT QAYERDAN BILADI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Internetdan emas — sizning hujjatlaringizdan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Kompaniya bilim bazasi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65 ta hujjat — ichida 5 181 ta qidiriladigan parcha: mahsulot tavsiflari, ventilyatsiya bo'yicha texnik bilim, montaj qoidalari, bozor tahlili, savdo tartibi, qonun matnlari.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Har agent — o'z bo'limi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Yurist qonunni, muhandis texnik bilimni, marketolog brend bazasini ko'radi. Kerak bo'lmagan hujjat agentga berilmaydi — bu aniqlikni ham, xarajatni ham yaxshilaydi.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Javob manbasini ko'rsatadi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Har javobda ma'lumot qaysi hujjatdan olingani yoziladi: baza, katalog, hujjat yoki veb. Tekshirish mumkin — ishonishga majbur emassiz.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Yangilash oson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Hujjat qo'shsangiz yoki narxni o'zgartirsangiz — tizim uni o'zi o'qiydi. Dasturchi ham, qayta yoqish ham kerak emas.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11 / 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4550A"/>
                </a:solidFill>
                <a:latin typeface="Segoe UI"/>
              </a:rPr>
              <a:t>ENG MUHIM ODAT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Bilmasa — to'qimaydi, so'raydi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700" b="0">
                <a:solidFill>
                  <a:srgbClr val="0D1620"/>
                </a:solidFill>
                <a:latin typeface="Segoe UI"/>
              </a:rPr>
              <a:t>AI ning eng xavfli tomoni — bilmagan narsani ishonch bilan aytishi. Tizimda bunga alohida holat qo'yilgan.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97480"/>
            <a:ext cx="5257800" cy="173736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3272" y="2907792"/>
            <a:ext cx="47457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MENEJER YOZDI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400" b="0">
                <a:solidFill>
                  <a:srgbClr val="0D1620"/>
                </a:solidFill>
                <a:latin typeface="Consolas"/>
              </a:rPr>
              <a:t>«Omborga ventilyatsiya kerak»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697480"/>
            <a:ext cx="5257800" cy="1737360"/>
          </a:xfrm>
          <a:prstGeom prst="roundRect">
            <a:avLst>
              <a:gd name="adj" fmla="val 4000"/>
            </a:avLst>
          </a:prstGeom>
          <a:solidFill>
            <a:srgbClr val="F7E9C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11112" y="2907792"/>
            <a:ext cx="4745736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94550A"/>
                </a:solidFill>
                <a:latin typeface="Consolas"/>
              </a:rPr>
              <a:t>AGENT JAVOBI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250" b="0">
                <a:solidFill>
                  <a:srgbClr val="0D1620"/>
                </a:solidFill>
                <a:latin typeface="Segoe UI"/>
              </a:rPr>
              <a:t>Hisoblash uchun uchta narsa yetishmayapti: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250" b="0">
                <a:solidFill>
                  <a:srgbClr val="3B4F63"/>
                </a:solidFill>
                <a:latin typeface="Segoe UI"/>
              </a:rPr>
              <a:t>—  ombor maydoni (m²)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250" b="0">
                <a:solidFill>
                  <a:srgbClr val="3B4F63"/>
                </a:solidFill>
                <a:latin typeface="Segoe UI"/>
              </a:rPr>
              <a:t>—  shift balandligi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250" b="0">
                <a:solidFill>
                  <a:srgbClr val="3B4F63"/>
                </a:solidFill>
                <a:latin typeface="Segoe UI"/>
              </a:rPr>
              <a:t>—  nima saqlanadi (chang bormi)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75488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Taxminiy raqam bilan KP tuzilmaydi. Mijozga noto'g'ri quvvat ketishidan ko'ra bitta savol berish arzonroq.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12 / 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ROLIK 4 — ENG MUHIM QOIDA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Raqamni AI o'ylab topmaydi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2423160"/>
          </a:xfrm>
          <a:prstGeom prst="roundRect">
            <a:avLst>
              <a:gd name="adj" fmla="val 4000"/>
            </a:avLst>
          </a:prstGeom>
          <a:solidFill>
            <a:srgbClr val="F7E2E0"/>
          </a:solidFill>
          <a:ln w="12700">
            <a:solidFill>
              <a:srgbClr val="9E2F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121408"/>
            <a:ext cx="474573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E2F2C"/>
                </a:solidFill>
                <a:latin typeface="Consolas"/>
              </a:rPr>
              <a:t>AGAR RAQAMNI MODEL AYTSA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«800 m² ombor uchun taxminan…» — model ishonchli ohangda gapiradi, lekin raqam taxminiy bo'lishi mumkin.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2300" b="1">
                <a:solidFill>
                  <a:srgbClr val="9E2F2C"/>
                </a:solidFill>
                <a:latin typeface="Consolas"/>
              </a:rPr>
              <a:t>≈ 15 000 m³/soat ?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100" b="0">
                <a:solidFill>
                  <a:srgbClr val="64798F"/>
                </a:solidFill>
                <a:latin typeface="Segoe UI"/>
              </a:rPr>
              <a:t>Tekshirib bo'lmaydi. Mijozga ketsa — javobgarlik.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2423160"/>
          </a:xfrm>
          <a:prstGeom prst="roundRect">
            <a:avLst>
              <a:gd name="adj" fmla="val 4000"/>
            </a:avLst>
          </a:prstGeom>
          <a:solidFill>
            <a:srgbClr val="DCEFE6"/>
          </a:solidFill>
          <a:ln w="12700">
            <a:solidFill>
              <a:srgbClr val="0B644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2121408"/>
            <a:ext cx="4745736" cy="2011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B6444"/>
                </a:solidFill>
                <a:latin typeface="Consolas"/>
              </a:rPr>
              <a:t>BIZDA: RAQAMNI KOD HISOBLAYDI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Model faqat savolni tushunadi. Hisobni esa yozilgan formula bajaradi — har safar bir xil natija.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2100" b="1">
                <a:solidFill>
                  <a:srgbClr val="0B6444"/>
                </a:solidFill>
                <a:latin typeface="Consolas"/>
              </a:rPr>
              <a:t>800 × 6 × 3 = 14 400 m³/soat</a:t>
            </a:r>
          </a:p>
          <a:p>
            <a:pPr>
              <a:lnSpc>
                <a:spcPct val="116000"/>
              </a:lnSpc>
              <a:spcBef>
                <a:spcPts val="800"/>
              </a:spcBef>
            </a:pPr>
            <a:r>
              <a:rPr sz="1100" b="0">
                <a:solidFill>
                  <a:srgbClr val="64798F"/>
                </a:solidFill>
                <a:latin typeface="Segoe UI"/>
              </a:rPr>
              <a:t>maydon × balandlik × soatiga havo almashinuvi — har bir raqamni qo'lda qayta tekshirsa bo'ladi.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75488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700" b="0">
                <a:solidFill>
                  <a:srgbClr val="0D1620"/>
                </a:solidFill>
                <a:latin typeface="Segoe UI"/>
              </a:rPr>
              <a:t>Shuning uchun taklifdagi narx, quvvat va o'lcham — o'ylab topilgan emas, hisoblangan.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13 / 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4550A"/>
                </a:solidFill>
                <a:latin typeface="Segoe UI"/>
              </a:rPr>
              <a:t>XAVFSIZLIK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Oxirgi so'z — doim odamda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23317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121408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AGENT QILADI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Hisoblaydi va model tanlaydi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Hujjat tayyorlaydi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Tenderlarni kuzatadi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Savolga javob beradi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23317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11112" y="2121408"/>
            <a:ext cx="4745736" cy="1920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94550A"/>
                </a:solidFill>
                <a:latin typeface="Consolas"/>
              </a:rPr>
              <a:t>FAQAT ODAM QILADI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Mijozga hujjat yuborish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Narxni yakuniy tasdiqlash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Katalogga o'zgartirish kiritish</a:t>
            </a:r>
          </a:p>
          <a:p>
            <a:pPr>
              <a:lnSpc>
                <a:spcPct val="116000"/>
              </a:lnSpc>
              <a:spcBef>
                <a:spcPts val="700"/>
              </a:spcBef>
            </a:pPr>
            <a:r>
              <a:rPr sz="1350" b="0">
                <a:solidFill>
                  <a:srgbClr val="3B4F63"/>
                </a:solidFill>
                <a:latin typeface="Segoe UI"/>
              </a:rPr>
              <a:t>—  Shartnoma bo'yicha qaror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4663440"/>
            <a:ext cx="38100" cy="530352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470916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2300" b="1">
                <a:solidFill>
                  <a:srgbClr val="0D1620"/>
                </a:solidFill>
                <a:latin typeface="Segoe UI"/>
              </a:rPr>
              <a:t>Tizim taklif qiladi — qarorni odam qabul qiladi.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14 / 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AMALDA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Yangi dastur o'rganish shart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38144" cy="24688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2944368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MENEJERLAR UCHUN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Telegram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Oddiy xabar yoziladi, javob keladi. Har kuni ertalab tender xabari, dushanbada haftalik hisobot — o'zi keladi.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1920240"/>
            <a:ext cx="3438144" cy="24688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18304" y="2167128"/>
            <a:ext cx="2944368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MIJOZLAR UCHUN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Alohida bot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Mijoz savol beradi, javob oladi. Savol va javob menejerga ham ko'rinadi — nazorat qo'ldan chiqmaydi.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920240"/>
            <a:ext cx="3438144" cy="246888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0" y="2167128"/>
            <a:ext cx="2944368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RAHBARIYAT UCHUN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Veb panel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Kim nima qilyapti — jonli ko'rinadi. Ofis 3D ko'rinishida: agentlar ish ustida harakatlanadi.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006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Telefondan ham, kompyuterdan ham ochiladi. Panel parol bilan himoyalangan.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15 / 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XAVFSIZLIK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To'rt qatlam — aytilgan emas, qulflangan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«Modelga o'chirma deb aytdik» — bu himoya emas. Chegaralar kod darajasida qo'yilgan, ya'ni model nima desa ham bajarilmaydi.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606040"/>
            <a:ext cx="5257800" cy="16916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852928"/>
            <a:ext cx="476402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01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Baza himoyasi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Ma'lumot bazasida DELETE va DROP imkonsiz — taqiq bazaning o'zida qo'yilgan. Model bunday so'rov yozsa ham baza uni rad etadi.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606040"/>
            <a:ext cx="5257800" cy="16916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852928"/>
            <a:ext cx="476402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02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Maxfiy maydonlar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Xodimlarning maoshi va telefoni modelga umuman berilmaydi — ular so'rovga qo'shilmaydi. Sizib chiqishi texnik jihatdan mumkin emas.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434840"/>
            <a:ext cx="5257800" cy="16916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681728"/>
            <a:ext cx="476402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03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Panel qulfi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Veb panel parolsiz tashqaridan ochilmaydi. Parol qo'yilmagan bo'lsa — faqat mahalliy kompyuterda ishlaydi.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434840"/>
            <a:ext cx="5257800" cy="16916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681728"/>
            <a:ext cx="4764024" cy="11978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04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Ma'lumot qayerda qoladi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Baza, hujjatlar va katalog kompaniyada turadi. Modelga butun baza yuborilmaydi — savolga kerakli eng ko'pi 5 ta parcha ajratiladi, qolgani umuman chiqmaydi.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16 / 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AVTOMATIK ISHLAR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Hech kim eslab turishi shart emas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HAR KUNI 09:00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Tender kuzatuvi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Xarid e'lonlari ko'rib chiqiladi, Jihozvent mahsulotlariga mosi ajratiladi va Telegramga yuboriladi. Ko'rilgan e'lon ikkinchi marta kelmaydi.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05637D"/>
                </a:solidFill>
                <a:latin typeface="Consolas"/>
              </a:rPr>
              <a:t>DUSHANBA 09:00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Haftalik hisobot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Tizim bir haftada nima qilgani: nechta so'rov, nechta KP, nechta tasdiq. Rahbar so'ramasdan oladi.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950" b="1">
                <a:solidFill>
                  <a:srgbClr val="94550A"/>
                </a:solidFill>
                <a:latin typeface="Consolas"/>
              </a:rPr>
              <a:t>MUHIM TAFSILOT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600" b="1">
                <a:solidFill>
                  <a:srgbClr val="0D1620"/>
                </a:solidFill>
                <a:latin typeface="Segoe UI"/>
              </a:rPr>
              <a:t>O'tkazib yuborilgani yo'qolmaydi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Kompyuter 09:00 da o'chiq bo'lsa, xabar yo'qolmaydi — tizim yoqilishi bilan o'sha zahoti keladi.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Takror yo'q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Bajarilgan ish bazaga yoziladi. Kompyuter kuniga besh marta yoqilsa ham xabar bir marta keladi.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17 / 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MUHANDISLIK TOMONI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Tez, arzon va tekshirilgan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Oddiy ish — oddiy yo'l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«Narxni o'zgartiring» degan so'rov butun tizimni bezovta qilmaydi: tayyor KP to'g'ridan-to'g'ri tahrirlanadi. Shu bitta yechim javobni 48 soniyadan 0,1 soniyaga tushirdi.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55080" y="1920240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67128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Har agent — o'z bilimi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Agentga faqat kerakli hujjatlar beriladi. Bu javobni ham aniqroq, ham arzonroq qiladi — ortiqcha matn uchun to'lanmaydi.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Buzilgan joy darhol bilinadi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Har o'zgarishdan keyin butun tizim boshdan tekshiriladi. «Bir joyni tuzatib, boshqa joyni buzish» — shu bilan to'siladi.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3794759"/>
            <a:ext cx="5257800" cy="164592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1968" y="4041647"/>
            <a:ext cx="4764024" cy="11521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Xato yashirilmaydi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Tashqi xizmat ishlamasa, agent buni ochiq aytadi va taxmin qilmaydi. Ma'lumot namunaviy bo'lsa — ogohlantiradi.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18 / 22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BUGUNGI HOLAT — NAMOYISH EMAS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Tizim allaqachon ishlagan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20240"/>
            <a:ext cx="3438144" cy="1353312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298094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400" b="1">
                <a:solidFill>
                  <a:srgbClr val="0D1620"/>
                </a:solidFill>
                <a:latin typeface="Consolas"/>
              </a:rPr>
              <a:t>127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00" b="0">
                <a:solidFill>
                  <a:srgbClr val="3B4F63"/>
                </a:solidFill>
                <a:latin typeface="Segoe UI"/>
              </a:rPr>
              <a:t>bajarilgan so'rov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71416" y="1920240"/>
            <a:ext cx="3438144" cy="1353312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148840"/>
            <a:ext cx="298094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400" b="1">
                <a:solidFill>
                  <a:srgbClr val="0D1620"/>
                </a:solidFill>
                <a:latin typeface="Consolas"/>
              </a:rPr>
              <a:t>25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00" b="0">
                <a:solidFill>
                  <a:srgbClr val="3B4F63"/>
                </a:solidFill>
                <a:latin typeface="Segoe UI"/>
              </a:rPr>
              <a:t>tayyorlangan tijorat taklifi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65592" y="1920240"/>
            <a:ext cx="3438144" cy="1353312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2148840"/>
            <a:ext cx="298094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400" b="1">
                <a:solidFill>
                  <a:srgbClr val="0D1620"/>
                </a:solidFill>
                <a:latin typeface="Consolas"/>
              </a:rPr>
              <a:t>24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00" b="0">
                <a:solidFill>
                  <a:srgbClr val="3B4F63"/>
                </a:solidFill>
                <a:latin typeface="Segoe UI"/>
              </a:rPr>
              <a:t>kuzatilgan tender e'loni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93008"/>
            <a:ext cx="3438144" cy="1353312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721608"/>
            <a:ext cx="298094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400" b="1">
                <a:solidFill>
                  <a:srgbClr val="94550A"/>
                </a:solidFill>
                <a:latin typeface="Consolas"/>
              </a:rPr>
              <a:t>43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00" b="0">
                <a:solidFill>
                  <a:srgbClr val="3B4F63"/>
                </a:solidFill>
                <a:latin typeface="Segoe UI"/>
              </a:rPr>
              <a:t>inson tasdig'idan o'tgan ish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71416" y="3493008"/>
            <a:ext cx="3438144" cy="1353312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0016" y="3721608"/>
            <a:ext cx="298094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400" b="1">
                <a:solidFill>
                  <a:srgbClr val="05637D"/>
                </a:solidFill>
                <a:latin typeface="Consolas"/>
              </a:rPr>
              <a:t>1 482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00" b="0">
                <a:solidFill>
                  <a:srgbClr val="3B4F63"/>
                </a:solidFill>
                <a:latin typeface="Segoe UI"/>
              </a:rPr>
              <a:t>katalogdagi model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65592" y="3493008"/>
            <a:ext cx="3438144" cy="1353312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3721608"/>
            <a:ext cx="2980944" cy="8961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400" b="1">
                <a:solidFill>
                  <a:srgbClr val="05637D"/>
                </a:solidFill>
                <a:latin typeface="Consolas"/>
              </a:rPr>
              <a:t>898</a:t>
            </a:r>
          </a:p>
          <a:p>
            <a:pPr>
              <a:lnSpc>
                <a:spcPct val="116000"/>
              </a:lnSpc>
              <a:spcBef>
                <a:spcPts val="500"/>
              </a:spcBef>
            </a:pPr>
            <a:r>
              <a:rPr sz="1100" b="0">
                <a:solidFill>
                  <a:srgbClr val="3B4F63"/>
                </a:solidFill>
                <a:latin typeface="Segoe UI"/>
              </a:rPr>
              <a:t>o'tgan avtomatik tekshiruv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25780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Bu raqamlar taqdimot uchun yozilmagan — hozir ishlab turgan tizimning bazasidan olindi.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19 / 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4550A"/>
                </a:solidFill>
                <a:latin typeface="Segoe UI"/>
              </a:rPr>
              <a:t>BIZNES TOMONI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Bu kompaniyaga nima beradi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74519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3B4F63"/>
                </a:solidFill>
                <a:latin typeface="Segoe UI"/>
              </a:rPr>
              <a:t>Quyidagilar o'lchangan narsalar. Foiz va daromad va'da qilmayman — buni bir necha oylik ishlatishdan keyin kompaniyaning o'zi ko'radi.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14600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761488"/>
            <a:ext cx="4764024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Mijoz tezroq javob oladi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Taklif soatlab emas, daqiqalarda tayyor bo'ladi. Kim birinchi javob bersa, ko'pincha o'sha ishni oladi.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2514600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2761488"/>
            <a:ext cx="4764024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Tender o'tib ketmaydi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E'lonlar har kuni avtomatik ko'riladi. Kompyuter o'chiq bo'lsa ham xabar yo'qolmaydi.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4206240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4453128"/>
            <a:ext cx="4764024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To'g'ri model taklif qilinadi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1 482 model ichidan hisob bo'yicha tanlanadi — «o'xshashi» emas. Xato jihoz qaytib kelmaydi.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4206240"/>
            <a:ext cx="5257800" cy="150876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1968" y="4453128"/>
            <a:ext cx="4764024" cy="10149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Bilim kompaniyada qoladi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Tajriba hujjatlarda va kodda saqlanadi. Xodim ishdan ketsa, bilim u bilan ketmaydi.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5532120"/>
            <a:ext cx="10637215" cy="713232"/>
          </a:xfrm>
          <a:prstGeom prst="roundRect">
            <a:avLst>
              <a:gd name="adj" fmla="val 4000"/>
            </a:avLst>
          </a:prstGeom>
          <a:solidFill>
            <a:srgbClr val="F7E9C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5687568"/>
            <a:ext cx="1018001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200" b="0">
                <a:solidFill>
                  <a:srgbClr val="94550A"/>
                </a:solidFill>
                <a:latin typeface="Segoe UI"/>
              </a:rPr>
              <a:t>Xarajat haqida rostini aytaman: hozirgi sur'atda taxminan oyiga $20–70 oralig'ida. Bu jonli hisob-faktura emas — o'lchangan so'rov hajmidan chiqarilgan taxmin.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20 / 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94550A"/>
                </a:solidFill>
                <a:latin typeface="Segoe UI"/>
              </a:rPr>
              <a:t>OCHIQ GAPIRAMIZ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Tizim nimani hali qila olmaydi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920240"/>
            <a:ext cx="896112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0">
                <a:solidFill>
                  <a:srgbClr val="0D1620"/>
                </a:solidFill>
                <a:latin typeface="Segoe UI"/>
              </a:rPr>
              <a:t>Yaxshi tizim o'z chegarasini biladi. Bular yashirilmaydi — rejaga kiritilgan.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560320"/>
            <a:ext cx="3438144" cy="21488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2807208"/>
            <a:ext cx="2944368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Narxlar to'liq emas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1 482 modeldan 25 tasida narx bor. Qolgani kiritilishi kerak — bu texnik emas, ma'lumot masalasi.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71416" y="2560320"/>
            <a:ext cx="3438144" cy="21488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18304" y="2807208"/>
            <a:ext cx="2944368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41 mahsulotda model yo'q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Katalogda nomi bor, lekin o'lcham variantlari kiritilmagan. Dasturchilarga ro'yxat topshirildi.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65592" y="2560320"/>
            <a:ext cx="3438144" cy="2148840"/>
          </a:xfrm>
          <a:prstGeom prst="roundRect">
            <a:avLst>
              <a:gd name="adj" fmla="val 4000"/>
            </a:avLst>
          </a:prstGeom>
          <a:solidFill>
            <a:srgbClr val="FCFDFE"/>
          </a:solidFill>
          <a:ln w="12700">
            <a:solidFill>
              <a:srgbClr val="93A8C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2807208"/>
            <a:ext cx="2944368" cy="1655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600" b="1">
                <a:solidFill>
                  <a:srgbClr val="0D1620"/>
                </a:solidFill>
                <a:latin typeface="Segoe UI"/>
              </a:rPr>
              <a:t>Kompyuter yoqiq bo'lishi kerak</a:t>
            </a:r>
          </a:p>
          <a:p>
            <a:pPr>
              <a:lnSpc>
                <a:spcPct val="116000"/>
              </a:lnSpc>
              <a:spcBef>
                <a:spcPts val="600"/>
              </a:spcBef>
            </a:pPr>
            <a:r>
              <a:rPr sz="1200" b="0">
                <a:solidFill>
                  <a:srgbClr val="3B4F63"/>
                </a:solidFill>
                <a:latin typeface="Segoe UI"/>
              </a:rPr>
              <a:t>Hozir tizim shu kompyuterda ishlaydi. Doimiy yoqiq kompyuterga ko'chirilsa — uzluksiz ishlaydi.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5029200"/>
            <a:ext cx="10637215" cy="731520"/>
          </a:xfrm>
          <a:prstGeom prst="roundRect">
            <a:avLst>
              <a:gd name="adj" fmla="val 4000"/>
            </a:avLst>
          </a:prstGeom>
          <a:solidFill>
            <a:srgbClr val="F7E9CE"/>
          </a:solidFill>
          <a:ln w="12700">
            <a:solidFill>
              <a:srgbClr val="9455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33272" y="5230368"/>
            <a:ext cx="10125151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400" b="1">
                <a:solidFill>
                  <a:srgbClr val="94550A"/>
                </a:solidFill>
                <a:latin typeface="Segoe UI"/>
              </a:rPr>
              <a:t>Uchalasi ham hal qilinadigan — hech biri tizimni qayta qurishni talab qilmaydi.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21 / 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3D0D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640080"/>
            <a:ext cx="23774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530352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50" b="1">
                <a:solidFill>
                  <a:srgbClr val="05637D"/>
                </a:solidFill>
                <a:latin typeface="Segoe UI"/>
              </a:rPr>
              <a:t>XULOSA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987552"/>
            <a:ext cx="10637215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3800" b="1">
                <a:solidFill>
                  <a:srgbClr val="0D1620"/>
                </a:solidFill>
                <a:latin typeface="Segoe UI"/>
              </a:rPr>
              <a:t>Uch jumlada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194560"/>
            <a:ext cx="14630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5740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800" b="0">
                <a:solidFill>
                  <a:srgbClr val="0D1620"/>
                </a:solidFill>
                <a:latin typeface="Segoe UI"/>
              </a:rPr>
              <a:t>AI agent — bu javob beradigan emas, ish bajaradigan dastur.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3017520"/>
            <a:ext cx="14630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88036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800" b="0">
                <a:solidFill>
                  <a:srgbClr val="0D1620"/>
                </a:solidFill>
                <a:latin typeface="Segoe UI"/>
              </a:rPr>
              <a:t>Biz Jihozvent uchun 15 ta agentdan iborat ofis qurdik — hisob, katalog, taklif, tender, hujjat.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840480"/>
            <a:ext cx="146304" cy="31750"/>
          </a:xfrm>
          <a:prstGeom prst="rect">
            <a:avLst/>
          </a:prstGeom>
          <a:solidFill>
            <a:srgbClr val="0563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78992" y="3703320"/>
            <a:ext cx="100584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800" b="0">
                <a:solidFill>
                  <a:srgbClr val="0D1620"/>
                </a:solidFill>
                <a:latin typeface="Segoe UI"/>
              </a:rPr>
              <a:t>Raqamlarni kod hisoblaydi, oxirgi qarorni esa doim odam qabul qiladi.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800600"/>
            <a:ext cx="38100" cy="960120"/>
          </a:xfrm>
          <a:prstGeom prst="rect">
            <a:avLst/>
          </a:prstGeom>
          <a:solidFill>
            <a:srgbClr val="9455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33272" y="4846320"/>
            <a:ext cx="1005840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2500" b="1">
                <a:solidFill>
                  <a:srgbClr val="0D1620"/>
                </a:solidFill>
                <a:latin typeface="Segoe UI"/>
              </a:rPr>
              <a:t>Tizim menejerni almashtirmaydi.</a:t>
            </a:r>
          </a:p>
          <a:p>
            <a:pPr>
              <a:lnSpc>
                <a:spcPct val="116000"/>
              </a:lnSpc>
            </a:pPr>
            <a:r>
              <a:rPr sz="2500" b="1">
                <a:solidFill>
                  <a:srgbClr val="0D1620"/>
                </a:solidFill>
                <a:latin typeface="Segoe UI"/>
              </a:rPr>
              <a:t>Uning qo'lini bo'shatadi.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382512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6000"/>
              </a:lnSpc>
            </a:pPr>
            <a:r>
              <a:rPr sz="1000" b="0">
                <a:solidFill>
                  <a:srgbClr val="64798F"/>
                </a:solidFill>
                <a:latin typeface="Consolas"/>
              </a:rPr>
              <a:t>22 / 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